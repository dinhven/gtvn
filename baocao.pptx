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</a:defRPr>
            </a:pPr>
            <a:r>
              <a:t>ĐỒ ÁN CUỐI KỲ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NHẬN DIỆN BIỂN BÁO GIAO THÔNG</a:t>
            </a:r>
            <a:br/>
            <a:r>
              <a:t>ĐƯỜNG BỘ VIỆT NAM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600"/>
                </a:solidFill>
              </a:defRPr>
            </a:pPr>
            <a:r>
              <a:t>Bằng phương pháp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Ngày báo cáo: 2</a:t>
            </a:r>
            <a:r>
              <a:rPr lang="en-US"/>
              <a:t>7</a:t>
            </a:r>
            <a:r>
              <a:t>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1. VẤN ĐỀ &amp; LÝ DO CHỌN ĐỀ TÀI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4864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CNN Phân loại truyền thống (Cách cũ)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</a:defRPr>
            </a:pPr>
            <a:endParaRPr/>
          </a:p>
          <a:p>
            <a:pPr algn="l">
              <a:defRPr sz="1700" b="0">
                <a:solidFill>
                  <a:srgbClr val="FF4D4F"/>
                </a:solidFill>
              </a:defRPr>
            </a:pPr>
            <a:r>
              <a:t>✗  Thêm biển mới → phải train lại toàn bộ</a:t>
            </a:r>
          </a:p>
          <a:p>
            <a:pPr algn="l">
              <a:defRPr sz="1700" b="0">
                <a:solidFill>
                  <a:srgbClr val="FF4D4F"/>
                </a:solidFill>
              </a:defRPr>
            </a:pPr>
            <a:r>
              <a:t>✗  Số lớp cố định (N classes)</a:t>
            </a:r>
          </a:p>
          <a:p>
            <a:pPr algn="l">
              <a:defRPr sz="1700" b="0">
                <a:solidFill>
                  <a:srgbClr val="FF4D4F"/>
                </a:solidFill>
              </a:defRPr>
            </a:pPr>
            <a:r>
              <a:t>✗  Ảnh nghiêng, mờ → accuracy giảm mạnh</a:t>
            </a:r>
          </a:p>
          <a:p>
            <a:pPr algn="l">
              <a:defRPr sz="1700" b="0">
                <a:solidFill>
                  <a:srgbClr val="FF4D4F"/>
                </a:solidFill>
              </a:defRPr>
            </a:pPr>
            <a:r>
              <a:t>✗  Tốn thời gian &amp; tài nguyên 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029200" cy="548640"/>
          </a:xfrm>
          <a:prstGeom prst="round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Embeddings + Tìm kiếm tương đồng (Cách mới)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</a:defRPr>
            </a:pPr>
            <a:endParaRPr/>
          </a:p>
          <a:p>
            <a:pPr algn="l">
              <a:defRPr sz="1700" b="0">
                <a:solidFill>
                  <a:srgbClr val="00E676"/>
                </a:solidFill>
              </a:defRPr>
            </a:pPr>
            <a:r>
              <a:t>✓  Thêm biển mới → chỉ thêm ảnh, rebuild index</a:t>
            </a:r>
          </a:p>
          <a:p>
            <a:pPr algn="l">
              <a:defRPr sz="1700" b="0">
                <a:solidFill>
                  <a:srgbClr val="00E676"/>
                </a:solidFill>
              </a:defRPr>
            </a:pPr>
            <a:r>
              <a:t>✓  Không giới hạn số lượng biển</a:t>
            </a:r>
          </a:p>
          <a:p>
            <a:pPr algn="l">
              <a:defRPr sz="1700" b="0">
                <a:solidFill>
                  <a:srgbClr val="00E676"/>
                </a:solidFill>
              </a:defRPr>
            </a:pPr>
            <a:r>
              <a:t>✓  CLIP robust với ảnh nghiêng, mờ</a:t>
            </a:r>
          </a:p>
          <a:p>
            <a:pPr algn="l">
              <a:defRPr sz="1700" b="0">
                <a:solidFill>
                  <a:srgbClr val="00E676"/>
                </a:solidFill>
              </a:defRPr>
            </a:pPr>
            <a:r>
              <a:t>✓  Không cần train lại mô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600"/>
                </a:solidFill>
              </a:defRPr>
            </a:pPr>
            <a:r>
              <a:t>→ Đề tài: Dùng CLIP (OpenAI) biến ảnh biển báo thành vector 768 chiều,</a:t>
            </a:r>
            <a:br>
              <a:rPr lang="en-US"/>
            </a:br>
            <a:r>
              <a:rPr lang="en-US"/>
              <a:t>   </a:t>
            </a:r>
            <a:r>
              <a:t>rồi tìm kiếm vector tương đồng nhất bằng FAISS (Facebook AI)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2. CÔNG NGHỆ SỬ DỤNG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20040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AI /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endParaRPr/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CLIP (OpenAI) — encode ảnh &amp; text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PyTorch — framework AI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FAISS (Facebook) — tìm vector nhanh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Transformers (HuggingFace)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188720"/>
            <a:ext cx="3200400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endParaRPr/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Python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FastAPI — REST API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Pandas — xử lý metadata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Pillow — xử lý ảnh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188720"/>
            <a:ext cx="3383280" cy="45720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000000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endParaRPr/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React (JavaScript)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Vite — build tool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react-image-crop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Canvas API + SVG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98480" cy="457200"/>
          </a:xfrm>
          <a:prstGeom prst="roundRect">
            <a:avLst/>
          </a:prstGeom>
          <a:solidFill>
            <a:srgbClr val="55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Dữ liệu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endParaRPr/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QCVN 41 (Quy chuẩn biển báo giao thông VN)  •  Kaggle Vietnam Traffic Sign Dataset  •  4875 ảnh mẫu (4 nhóm)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3. PIPELINE XỬ LÝ (6 BƯỚC)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737360" cy="10972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B1: CLIP 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Ảnh → vector 768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4D8"/>
                </a:solidFill>
              </a:defRPr>
            </a:pPr>
            <a:r>
              <a:t>~2s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600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188720"/>
            <a:ext cx="1737360" cy="1097280"/>
          </a:xfrm>
          <a:prstGeom prst="roundRect">
            <a:avLst/>
          </a:prstGeom>
          <a:solidFill>
            <a:srgbClr val="884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B2: OOD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Có phải biển báo?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4D8"/>
                </a:solidFill>
              </a:defRPr>
            </a:pPr>
            <a:r>
              <a:t>~1ms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600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188720"/>
            <a:ext cx="1737360" cy="10972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B3: FAISS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Tìm top 30 giống nhất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4D8"/>
                </a:solidFill>
              </a:defRPr>
            </a:pPr>
            <a:r>
              <a:t>~1ms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600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59" y="1188720"/>
            <a:ext cx="1737360" cy="1097280"/>
          </a:xfrm>
          <a:prstGeom prst="roundRect">
            <a:avLst/>
          </a:prstGeom>
          <a:solidFill>
            <a:srgbClr val="55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B4: Lấy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Tên, nhóm, ý nghĩa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4D8"/>
                </a:solidFill>
              </a:defRPr>
            </a:pPr>
            <a:r>
              <a:t>~1ms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600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188720"/>
            <a:ext cx="1737360" cy="1097280"/>
          </a:xfrm>
          <a:prstGeom prst="round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B5: Text Re-rank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So text kiểm tra lại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4D8"/>
                </a:solidFill>
              </a:defRPr>
            </a:pPr>
            <a:r>
              <a:t>~1ms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600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188720"/>
            <a:ext cx="1737360" cy="1097280"/>
          </a:xfrm>
          <a:prstGeom prst="roundRect">
            <a:avLst/>
          </a:prstGeom>
          <a:solidFill>
            <a:srgbClr val="FF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B6: Flip-Fix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377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Sửa hướng trái/phải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8346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B4D8"/>
                </a:solidFill>
              </a:defRPr>
            </a:pPr>
            <a:r>
              <a:t>~5ms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</a:defRPr>
            </a:pPr>
            <a:r>
              <a:t>→ Trả top 3 kết quả cho frontend (mã biển, %, ý nghĩa, lời khuyên)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Công thức tính điểm: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54880"/>
            <a:ext cx="10515600" cy="64008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>
                <a:solidFill>
                  <a:srgbClr val="FFD600"/>
                </a:solidFill>
              </a:defRPr>
            </a:pPr>
            <a:r>
              <a:t>Điểm cuối = Điểm hình (cosine similarity) + Điểm text × 1.8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Hiển thị: score / 2.8 × 100%  →  luôn trong khoảng 0-100%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B4D8"/>
                </a:solidFill>
              </a:defRPr>
            </a:pPr>
            <a:r>
              <a:t>4. GIẢI QUYẾT VẤN ĐỀ TRÁI/PHẢI (FLIP-FIX)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D4F"/>
                </a:solidFill>
              </a:defRPr>
            </a:pPr>
            <a:r>
              <a:t>Vấn đề: CLIP không phân biệt được trái/phải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</a:defRPr>
            </a:pPr>
            <a:r>
              <a:t>CLIP được OpenAI train bằng ảnh lật (data augmentation)</a:t>
            </a:r>
            <a:br/>
            <a:r>
              <a:t>→ Vector "rẽ trái" ≈ Vector "rẽ phải"  →  cả so hình lẫn so text đều không phân biệt được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Giải pháp: So ảnh GỐC vs ảnh LẬT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22860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</a:defRPr>
            </a:pPr>
            <a:r>
              <a:t>Ví dụ: User upload biển "Cấm rẽ trái"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Ảnh GỐC  so với biển P.123a (rẽ trái) → 90%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Ảnh LẬT  so với biển P.123a (rẽ trái) → 85%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500" b="1">
                <a:solidFill>
                  <a:srgbClr val="00E676"/>
                </a:solidFill>
              </a:defRPr>
            </a:pPr>
            <a:r>
              <a:t>→ Ảnh gốc giống HƠN → ĐÚNG HƯỚNG → +0.10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5029200" cy="22860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329184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600"/>
                </a:solidFill>
              </a:defRPr>
            </a:pPr>
            <a:r>
              <a:t>Ví dụ: User upload biển "Cấm rẽ phải"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Ảnh GỐC  so với biển P.123a (rẽ trái) → 85%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t>Ảnh LẬT  so với biển P.123a (rẽ trái) → 92%</a:t>
            </a:r>
          </a:p>
          <a:p>
            <a:pPr algn="l">
              <a:defRPr sz="800" b="0">
                <a:solidFill>
                  <a:srgbClr val="FFFFFF"/>
                </a:solidFill>
              </a:defRPr>
            </a:pPr>
            <a:endParaRPr/>
          </a:p>
          <a:p>
            <a:pPr algn="l">
              <a:defRPr sz="1500" b="1">
                <a:solidFill>
                  <a:srgbClr val="FF4D4F"/>
                </a:solidFill>
              </a:defRPr>
            </a:pPr>
            <a:r>
              <a:t>→ Ảnh lật giống HƠN → SAI HƯỚNG → -0.30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14 cặp biển trái/phải: P.123a/b, P.103b/c, W.201a/b, R.301a/b...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5.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Nguồn thu thập: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</a:defRPr>
            </a:pPr>
            <a:endParaRPr/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Kaggle: Vietnam Traffic Sign Dataset (~600 ảnh)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QCVN 41: Ảnh minh họa chuẩn (~100 ảnh)</a:t>
            </a:r>
          </a:p>
          <a:p>
            <a:pPr algn="l">
              <a:defRPr sz="1700" b="1">
                <a:solidFill>
                  <a:srgbClr val="FFD600"/>
                </a:solidFill>
              </a:defRPr>
            </a:pPr>
            <a:r>
              <a:t>• Tổng: ~700 ảnh gốc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Tăng cường dữ liệu (Augmentation):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CCCC"/>
                </a:solidFill>
              </a:defRPr>
            </a:pPr>
            <a:endParaRPr/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Xoay ±20°, ±30°, ±45° → mỗi ảnh ra 7 bản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Sinh biển tốc độ P.127 (13 loại: 5-120km/h)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Sinh biển tải trọng P.106b (7 loại: 1.5-15T)</a:t>
            </a:r>
          </a:p>
          <a:p>
            <a:pPr algn="l">
              <a:defRPr sz="1700" b="1">
                <a:solidFill>
                  <a:srgbClr val="00E676"/>
                </a:solidFill>
              </a:defRPr>
            </a:pPr>
            <a:r>
              <a:t>• Tổng sau augmentation: ~4875 ảnh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4 nhóm biển (QCVN 41):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37360"/>
            <a:ext cx="4572000" cy="5029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Biển Cấm (P.xxx)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377439"/>
            <a:ext cx="4572000" cy="502920"/>
          </a:xfrm>
          <a:prstGeom prst="round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Biển Nguy hiểm (W.xxx)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017520"/>
            <a:ext cx="4572000" cy="502920"/>
          </a:xfrm>
          <a:prstGeom prst="roundRect">
            <a:avLst/>
          </a:prstGeom>
          <a:solidFill>
            <a:srgbClr val="00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Biển Hiệu lệnh (R.xxx)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657599"/>
            <a:ext cx="4572000" cy="502920"/>
          </a:xfrm>
          <a:prstGeom prst="round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Biển Chỉ dẫn (I.xxx)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Metadata mỗi ảnh: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endParaRPr/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label (mã biển: P.102, W.201a...)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group (nhóm biển)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meaning (ý nghĩa)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advice (lời khuyên an toàn)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6. TÍNH NĂNG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676"/>
                </a:solidFill>
              </a:defRPr>
            </a:pPr>
            <a:r>
              <a:t>✓  Upload ảnh (browse, kéo thả, Ctrl+V paste)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1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676"/>
                </a:solidFill>
              </a:defRPr>
            </a:pPr>
            <a:r>
              <a:t>✓  Crop vùng biển báo trên ảnh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676"/>
                </a:solidFill>
              </a:defRPr>
            </a:pPr>
            <a:r>
              <a:t>✓  Crop theo hình dạng (chữ nhật, tròn, tam giác)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676"/>
                </a:solidFill>
              </a:defRPr>
            </a:pPr>
            <a:r>
              <a:t>✓  Nhận diện top 3 biển giống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676"/>
                </a:solidFill>
              </a:defRPr>
            </a:pPr>
            <a:r>
              <a:t>✓  Hiển thị % tương đồng, mã biển, ý nghĩa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E676"/>
                </a:solidFill>
              </a:defRPr>
            </a:pPr>
            <a:r>
              <a:t>✓  Lời khuyên an toàn giao thông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✓  Kiểm tra ảnh không phải biển báo (OOD check)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✓  Phân biệt hướng trái/phải (flip-fix)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600"/>
                </a:solidFill>
              </a:defRPr>
            </a:pPr>
            <a:r>
              <a:t>✓  Pre-compute text embeddings (tối ưu tốc độ 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7. KHÓ KHĂN &amp; GIẢI PHÁP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1005840"/>
          </a:xfrm>
          <a:prstGeom prst="round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4F"/>
                </a:solidFill>
              </a:defRPr>
            </a:pPr>
            <a:r>
              <a:t>Vấn đề: CLIP không phân biệt trái/phải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97280"/>
            <a:ext cx="5029200" cy="1005840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11887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</a:defRPr>
            </a:pPr>
            <a:r>
              <a:t>Giải pháp: So ảnh gốc vs ảnh lật (flip-fix) → phạt/thưởng điểm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029200" cy="1005840"/>
          </a:xfrm>
          <a:prstGeom prst="round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4F"/>
                </a:solidFill>
              </a:defRPr>
            </a:pPr>
            <a:r>
              <a:t>Vấn đề: Ảnh thực tế bị nhiễu (cây, nhà, bảng tên)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5029200" cy="1005840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</a:defRPr>
            </a:pPr>
            <a:r>
              <a:t>Giải pháp: Crop tool + Shape masking (tròn/tam giác) loại bỏ nền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029200" cy="1005840"/>
          </a:xfrm>
          <a:prstGeom prst="round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4F"/>
                </a:solidFill>
              </a:defRPr>
            </a:pPr>
            <a:r>
              <a:t>Vấn đề: Tốc độ chậm trên CPU (~3s)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40480"/>
            <a:ext cx="5029200" cy="1005840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9319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</a:defRPr>
            </a:pPr>
            <a:r>
              <a:t>Giải pháp: Pre-compute text embeddings + dùng hết CPU cores → giảm 50%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212080"/>
            <a:ext cx="5029200" cy="1005840"/>
          </a:xfrm>
          <a:prstGeom prst="roundRect">
            <a:avLst/>
          </a:prstGeom>
          <a:solidFill>
            <a:srgbClr val="5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D4F"/>
                </a:solidFill>
              </a:defRPr>
            </a:pPr>
            <a:r>
              <a:t>Vấn đề: Biển giống nhau (tốc độ 40/50/60)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212080"/>
            <a:ext cx="5029200" cy="1005840"/>
          </a:xfrm>
          <a:prstGeom prst="round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53035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E676"/>
                </a:solidFill>
              </a:defRPr>
            </a:pPr>
            <a:r>
              <a:t>Giải pháp: Text re-ranking: so mô tả text, trọng số ×1.8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</a:defRPr>
            </a:pPr>
            <a:r>
              <a:t>8. HẠN CHẾ &amp;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D4F"/>
                </a:solidFill>
              </a:defRPr>
            </a:pPr>
            <a:r>
              <a:t>Hạn chế hiện tại: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•  Chưa xử lý nhiều biển trong 1 ảnh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•  Chưa xử lý ảnh bị che khuất, mờ nặng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•  Tốc độ phụ thuộc CPU (~2-3s/ảnh)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•  Chưa có bảng đánh giá chính thức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</a:defRPr>
            </a:pPr>
            <a:r>
              <a:t>Hướng phát triển: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→  Fine-tune CLIP trên data biển VN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→  Tích hợp YOLO phát hiện tự động biển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→  Triển khai lên web public (deploy)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→  Xử lý video/camera thời gian thực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→  Đánh giá chính thức (precision, recall)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</a:defRPr>
            </a:pPr>
            <a:r>
              <a:rPr lang="en-US" sz="9600"/>
              <a:t>THANK YOU</a:t>
            </a:r>
            <a:r>
              <a:rPr sz="9600"/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12" y="3125755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1100</Words>
  <Application>Microsoft Office PowerPoint</Application>
  <PresentationFormat>Custom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Mouse</cp:lastModifiedBy>
  <cp:revision>3</cp:revision>
  <dcterms:created xsi:type="dcterms:W3CDTF">2013-01-27T09:14:16Z</dcterms:created>
  <dcterms:modified xsi:type="dcterms:W3CDTF">2026-05-26T09:21:00Z</dcterms:modified>
  <cp:category/>
</cp:coreProperties>
</file>